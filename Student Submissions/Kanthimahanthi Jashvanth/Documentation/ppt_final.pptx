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9141619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820388" y="3465573"/>
            <a:ext cx="753234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05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56350"/>
            <a:ext cx="20574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820388" y="5676389"/>
            <a:ext cx="753234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2000" y="360000"/>
            <a:ext cx="81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27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9141619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45741" y="4219472"/>
            <a:ext cx="3973909" cy="1081088"/>
          </a:xfrm>
        </p:spPr>
        <p:txBody>
          <a:bodyPr wrap="square" anchor="b">
            <a:normAutofit/>
          </a:bodyPr>
          <a:lstStyle>
            <a:lvl1pPr>
              <a:defRPr sz="3375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2702052" y="0"/>
            <a:ext cx="6185916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 sz="1350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7446" y="3896555"/>
            <a:ext cx="6185916" cy="2078732"/>
          </a:xfrm>
        </p:spPr>
        <p:txBody>
          <a:bodyPr wrap="square" anchor="t">
            <a:normAutofit/>
          </a:bodyPr>
          <a:lstStyle>
            <a:lvl1pPr algn="l">
              <a:defRPr sz="345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837446" y="1348964"/>
            <a:ext cx="2965010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5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2000" y="360000"/>
            <a:ext cx="81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27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521970" y="1301750"/>
            <a:ext cx="399288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4629150" y="1301750"/>
            <a:ext cx="399288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2000" y="360000"/>
            <a:ext cx="81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27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301750"/>
            <a:ext cx="399288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  <a:sym typeface="+mn-ea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521970" y="1875099"/>
            <a:ext cx="3992880" cy="4300276"/>
          </a:xfrm>
        </p:spPr>
        <p:txBody>
          <a:bodyPr wrap="square">
            <a:normAutofit/>
          </a:bodyPr>
          <a:lstStyle>
            <a:lvl1pPr>
              <a:defRPr sz="165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29150" y="1301750"/>
            <a:ext cx="399288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  <a:sym typeface="+mn-ea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4629150" y="1875099"/>
            <a:ext cx="3992880" cy="4300276"/>
          </a:xfrm>
        </p:spPr>
        <p:txBody>
          <a:bodyPr wrap="square">
            <a:normAutofit/>
          </a:bodyPr>
          <a:lstStyle>
            <a:lvl1pPr>
              <a:defRPr sz="165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970" y="360045"/>
            <a:ext cx="8101489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2000" y="360000"/>
            <a:ext cx="81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301750"/>
            <a:ext cx="809931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>
                <a:latin typeface="+mj-lt"/>
                <a:sym typeface="+mn-ea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9141619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834729" y="3477870"/>
            <a:ext cx="7383581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05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56350"/>
            <a:ext cx="20574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820388" y="5527799"/>
            <a:ext cx="753234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2"/>
            </p:custDataLst>
          </p:nvPr>
        </p:nvSpPr>
        <p:spPr>
          <a:xfrm>
            <a:off x="0" y="0"/>
            <a:ext cx="1088015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3"/>
            </p:custDataLst>
          </p:nvPr>
        </p:nvSpPr>
        <p:spPr>
          <a:xfrm>
            <a:off x="7453429" y="2289018"/>
            <a:ext cx="1690571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521970" y="360000"/>
            <a:ext cx="81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52197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565487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image" Target="../media/image1.png"/><Relationship Id="rId1" Type="http://schemas.openxmlformats.org/officeDocument/2006/relationships/tags" Target="../tags/tag70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20388" y="3456430"/>
            <a:ext cx="7532342" cy="1350000"/>
          </a:xfrm>
        </p:spPr>
        <p:txBody>
          <a:bodyPr wrap="square"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5400"/>
              <a:t>Performance Analysis &amp; Insights</a:t>
            </a:r>
            <a:endParaRPr sz="540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820388" y="5114542"/>
            <a:ext cx="7532342" cy="434724"/>
          </a:xfrm>
        </p:spPr>
        <p:txBody>
          <a:bodyPr wrap="square">
            <a:normAutofit/>
          </a:bodyPr>
          <a:lstStyle/>
          <a:p>
            <a:r>
              <a:rPr lang="en-US" dirty="0">
                <a:ea typeface="+mn-ea"/>
              </a:rPr>
              <a:t>K.Jashvanth</a:t>
            </a:r>
            <a:endParaRPr lang="en-US" dirty="0">
              <a:ea typeface="+mn-ea"/>
            </a:endParaRPr>
          </a:p>
        </p:txBody>
      </p:sp>
      <p:sp>
        <p:nvSpPr>
          <p:cNvPr id="7" name="Title 5"/>
          <p:cNvSpPr>
            <a:spLocks noGrp="1"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None/>
            </a:pPr>
            <a:r>
              <a:rPr>
                <a:solidFill>
                  <a:schemeClr val="tx1"/>
                </a:solidFill>
                <a:cs typeface="Arial" panose="020B0604020202020204" pitchFamily="34" charset="0"/>
              </a:rPr>
              <a:t>IT Support Dashboard</a:t>
            </a:r>
            <a:endParaRPr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Final Dashboar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86740" y="1169035"/>
            <a:ext cx="7315200" cy="4118017"/>
          </a:xfrm>
          <a:prstGeom prst="rect">
            <a:avLst/>
          </a:prstGeom>
        </p:spPr>
      </p:pic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914400" y="5029200"/>
            <a:ext cx="3073400" cy="368300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r>
              <a:rPr>
                <a:solidFill>
                  <a:schemeClr val="tx1"/>
                </a:solidFill>
              </a:rPr>
              <a:t>Overview of IT Support Metrics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Dashboard Overview</a:t>
            </a:r>
            <a:endParaRPr 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27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Key Metrics</a:t>
            </a:r>
            <a:endParaRPr lang="en-US" dirty="0"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400">
                <a:solidFill>
                  <a:schemeClr val="tx1"/>
                </a:solidFill>
                <a:ea typeface="+mn-ea"/>
              </a:rPr>
              <a:t>Total Tickets Handled: 8,469</a:t>
            </a:r>
            <a:endParaRPr lang="en-US" altLang="en-US" sz="2400">
              <a:solidFill>
                <a:schemeClr val="tx1"/>
              </a:solidFill>
              <a:ea typeface="+mn-ea"/>
            </a:endParaRPr>
          </a:p>
          <a:p>
            <a:r>
              <a:rPr lang="en-US" altLang="en-US" sz="2400">
                <a:solidFill>
                  <a:schemeClr val="tx1"/>
                </a:solidFill>
                <a:ea typeface="+mn-ea"/>
              </a:rPr>
              <a:t>Indicates overall workload and customer engagement volume.</a:t>
            </a:r>
            <a:endParaRPr lang="en-US" altLang="en-US" sz="2400">
              <a:solidFill>
                <a:schemeClr val="tx1"/>
              </a:solidFill>
              <a:ea typeface="+mn-ea"/>
            </a:endParaRPr>
          </a:p>
          <a:p>
            <a:r>
              <a:rPr lang="en-US" altLang="en-US" sz="2400">
                <a:solidFill>
                  <a:schemeClr val="tx1"/>
                </a:solidFill>
                <a:ea typeface="+mn-ea"/>
              </a:rPr>
              <a:t>Average Response Time: 11.68 Hours</a:t>
            </a:r>
            <a:endParaRPr lang="en-US" altLang="en-US" sz="2400">
              <a:solidFill>
                <a:schemeClr val="tx1"/>
              </a:solidFill>
              <a:ea typeface="+mn-ea"/>
            </a:endParaRPr>
          </a:p>
          <a:p>
            <a:r>
              <a:rPr lang="en-US" altLang="en-US" sz="2400">
                <a:solidFill>
                  <a:schemeClr val="tx1"/>
                </a:solidFill>
                <a:ea typeface="+mn-ea"/>
              </a:rPr>
              <a:t>Reflects the time taken to respond to customer queries. Opportunity to improve responsiveness.</a:t>
            </a:r>
            <a:endParaRPr lang="en-US" altLang="en-US" sz="2400">
              <a:solidFill>
                <a:schemeClr val="tx1"/>
              </a:solidFill>
              <a:ea typeface="+mn-ea"/>
            </a:endParaRPr>
          </a:p>
          <a:p>
            <a:r>
              <a:rPr lang="en-US" altLang="en-US" sz="2400">
                <a:solidFill>
                  <a:schemeClr val="tx1"/>
                </a:solidFill>
                <a:ea typeface="+mn-ea"/>
              </a:rPr>
              <a:t>Customer Satisfaction Score: 3.00 / 5</a:t>
            </a:r>
            <a:endParaRPr lang="en-US" altLang="en-US" sz="2400">
              <a:solidFill>
                <a:schemeClr val="tx1"/>
              </a:solidFill>
              <a:ea typeface="+mn-ea"/>
            </a:endParaRPr>
          </a:p>
          <a:p>
            <a:r>
              <a:rPr lang="en-US" altLang="en-US" sz="2400">
                <a:solidFill>
                  <a:schemeClr val="tx1"/>
                </a:solidFill>
                <a:ea typeface="+mn-ea"/>
              </a:rPr>
              <a:t>Shows moderate satisfaction level, highlighting scope for service quality enhancement.</a:t>
            </a:r>
            <a:endParaRPr lang="en-US" altLang="en-US" sz="2400">
              <a:solidFill>
                <a:schemeClr val="tx1"/>
              </a:solidFill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27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SLA Performance</a:t>
            </a:r>
            <a:endParaRPr lang="en-US" dirty="0"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ea typeface="+mn-ea"/>
              </a:rPr>
              <a:t>Response Time compared with SLA Target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Current response time is slightly above the defined SLA limits.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Slight Delay Observed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Minor delays in responding to tickets are impacting overall performance metrics.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Opportunity for Improvement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Streamline ticket handling processes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Improve team responsiveness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Leverage automation for quicker initial responses</a:t>
            </a:r>
            <a:endParaRPr lang="en-US" alt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27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Tickets by System</a:t>
            </a:r>
            <a:endParaRPr lang="en-US" dirty="0"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ea typeface="+mn-ea"/>
              </a:rPr>
              <a:t>Identifies Systems Generating the Most Tickets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Highlights key applications or systems with higher issue frequency.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Helps Prioritize IT Resources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Enables focused allocation of support teams to high-impact areas.</a:t>
            </a:r>
            <a:endParaRPr lang="en-US" alt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27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Channel Performance</a:t>
            </a:r>
            <a:endParaRPr lang="en-US" dirty="0"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ea typeface="+mn-ea"/>
              </a:rPr>
              <a:t>Email &amp; Phone Show High Volume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Majority of tickets are generated through these support channels.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Lower Resolution Efficiency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Compared to other channels, resolution time and effectiveness are lower.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Needs Optimization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Improve handling processes for email and phone support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Introduce standardized response templates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Enhance agent training for faster resolution</a:t>
            </a:r>
            <a:endParaRPr lang="en-US" alt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27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Ticket Type Insights</a:t>
            </a:r>
            <a:endParaRPr lang="en-US" dirty="0"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ea typeface="+mn-ea"/>
              </a:rPr>
              <a:t>Technical Issues Dominate</a:t>
            </a:r>
            <a:endParaRPr lang="en-US" altLang="en-US">
              <a:ea typeface="+mn-ea"/>
            </a:endParaRPr>
          </a:p>
          <a:p>
            <a:pPr marL="0" indent="0">
              <a:buNone/>
            </a:pPr>
            <a:r>
              <a:rPr lang="en-US" altLang="en-US">
                <a:ea typeface="+mn-ea"/>
              </a:rPr>
              <a:t>Majority of tickets are related to system errors, bugs, or functionality issues.</a:t>
            </a:r>
            <a:endParaRPr lang="en-US" altLang="en-US">
              <a:ea typeface="+mn-ea"/>
            </a:endParaRPr>
          </a:p>
          <a:p>
            <a:pPr marL="0" indent="0">
              <a:buNone/>
            </a:pPr>
            <a:r>
              <a:rPr lang="en-US" altLang="en-US">
                <a:ea typeface="+mn-ea"/>
              </a:rPr>
              <a:t>Refund &amp; Billing Also Significant</a:t>
            </a:r>
            <a:endParaRPr lang="en-US" altLang="en-US">
              <a:ea typeface="+mn-ea"/>
            </a:endParaRPr>
          </a:p>
          <a:p>
            <a:pPr marL="0" indent="0">
              <a:buNone/>
            </a:pPr>
            <a:r>
              <a:rPr lang="en-US" altLang="en-US">
                <a:ea typeface="+mn-ea"/>
              </a:rPr>
              <a:t>Financial-related queries form a notable portion of support requests.</a:t>
            </a:r>
            <a:endParaRPr lang="en-US" alt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 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27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Response Time Analysis</a:t>
            </a:r>
            <a:endParaRPr lang="en-US" dirty="0"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ea typeface="+mn-ea"/>
              </a:rPr>
              <a:t>Consistent but Slightly High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Performance metrics remain stable but are above the optimal range.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Workflow Optimization Needed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Streamline processes to reduce delays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Eliminate bottlenecks in ticket handling</a:t>
            </a:r>
            <a:endParaRPr lang="en-US" altLang="en-US">
              <a:ea typeface="+mn-ea"/>
            </a:endParaRPr>
          </a:p>
          <a:p>
            <a:r>
              <a:rPr lang="en-US" altLang="en-US">
                <a:ea typeface="+mn-ea"/>
              </a:rPr>
              <a:t>Improve coordination between teams</a:t>
            </a:r>
            <a:endParaRPr lang="en-US" alt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27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Key Insights</a:t>
            </a:r>
            <a:endParaRPr lang="en-US" dirty="0"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sz="2400">
                <a:sym typeface="+mn-ea"/>
              </a:rPr>
              <a:t>High ticket volume</a:t>
            </a:r>
            <a:endParaRPr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2400">
                <a:sym typeface="+mn-ea"/>
              </a:rPr>
              <a:t>• SLA gaps</a:t>
            </a:r>
            <a:endParaRPr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2400">
                <a:sym typeface="+mn-ea"/>
              </a:rPr>
              <a:t>• Channel inefficiencies</a:t>
            </a:r>
            <a:endParaRPr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2400">
                <a:sym typeface="+mn-ea"/>
              </a:rPr>
              <a:t>• Moderate satisfaction</a:t>
            </a:r>
            <a:endParaRPr lang="en-US" sz="2400">
              <a:ea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27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Recommendations</a:t>
            </a:r>
            <a:endParaRPr lang="en-US" dirty="0"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sz="2800">
                <a:sym typeface="+mn-ea"/>
              </a:rPr>
              <a:t>High ticket volume</a:t>
            </a:r>
            <a:endParaRPr sz="2800">
              <a:solidFill>
                <a:schemeClr val="tx1"/>
              </a:solidFill>
            </a:endParaRPr>
          </a:p>
          <a:p>
            <a:r>
              <a:rPr sz="2800">
                <a:sym typeface="+mn-ea"/>
              </a:rPr>
              <a:t> SLA gaps</a:t>
            </a:r>
            <a:endParaRPr sz="2800">
              <a:solidFill>
                <a:schemeClr val="tx1"/>
              </a:solidFill>
            </a:endParaRPr>
          </a:p>
          <a:p>
            <a:r>
              <a:rPr sz="2800">
                <a:sym typeface="+mn-ea"/>
              </a:rPr>
              <a:t> Channel inefficiencies</a:t>
            </a:r>
            <a:endParaRPr sz="2800">
              <a:solidFill>
                <a:schemeClr val="tx1"/>
              </a:solidFill>
            </a:endParaRPr>
          </a:p>
          <a:p>
            <a:r>
              <a:rPr sz="2800">
                <a:sym typeface="+mn-ea"/>
              </a:rPr>
              <a:t> Moderate satisfaction</a:t>
            </a:r>
            <a:endParaRPr lang="en-US" sz="2800">
              <a:ea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68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2_1*f*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Name"/>
</p:tagLst>
</file>

<file path=ppt/tags/tag69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ags/tag70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71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SLIDE_TYPE" val="text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77.xml><?xml version="1.0" encoding="utf-8"?>
<p:tagLst xmlns:p="http://schemas.openxmlformats.org/presentationml/2006/main">
  <p:tag name="KSO_WM_SLIDE_TYPE" val="text"/>
  <p:tag name="KSO_WM_BEAUTIFY_FLAG" val="#wm#"/>
</p:tagLst>
</file>

<file path=ppt/tags/tag78.xml><?xml version="1.0" encoding="utf-8"?>
<p:tagLst xmlns:p="http://schemas.openxmlformats.org/presentationml/2006/main">
  <p:tag name="KSO_WM_UNIT_TEXT" val="Key Metric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7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SLIDE_TYPE" val="text"/>
  <p:tag name="KSO_WM_BEAUTIFY_FLAG" val="#wm#"/>
</p:tagLst>
</file>

<file path=ppt/tags/tag82.xml><?xml version="1.0" encoding="utf-8"?>
<p:tagLst xmlns:p="http://schemas.openxmlformats.org/presentationml/2006/main">
  <p:tag name="KSO_WM_UNIT_TEXT" val="SLA Performanc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SLIDE_TYPE" val="text"/>
  <p:tag name="KSO_WM_BEAUTIFY_FLAG" val="#wm#"/>
</p:tagLst>
</file>

<file path=ppt/tags/tag86.xml><?xml version="1.0" encoding="utf-8"?>
<p:tagLst xmlns:p="http://schemas.openxmlformats.org/presentationml/2006/main">
  <p:tag name="KSO_WM_UNIT_TEXT" val="Tickets by System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9.xml><?xml version="1.0" encoding="utf-8"?>
<p:tagLst xmlns:p="http://schemas.openxmlformats.org/presentationml/2006/main">
  <p:tag name="KSO_WM_SLIDE_TYPE" val="text"/>
  <p:tag name="KSO_WM_BEAUTIFY_FLAG" val="#wm#"/>
</p:tagLst>
</file>

<file path=ppt/tags/tag90.xml><?xml version="1.0" encoding="utf-8"?>
<p:tagLst xmlns:p="http://schemas.openxmlformats.org/presentationml/2006/main">
  <p:tag name="KSO_WM_UNIT_TEXT" val="Channel Performanc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3.xml><?xml version="1.0" encoding="utf-8"?>
<p:tagLst xmlns:p="http://schemas.openxmlformats.org/presentationml/2006/main">
  <p:tag name="KSO_WM_SLIDE_TYPE" val="text"/>
  <p:tag name="KSO_WM_BEAUTIFY_FLAG" val="#wm#"/>
</p:tagLst>
</file>

<file path=ppt/tags/tag94.xml><?xml version="1.0" encoding="utf-8"?>
<p:tagLst xmlns:p="http://schemas.openxmlformats.org/presentationml/2006/main">
  <p:tag name="KSO_WM_UNIT_TEXT" val="Ticket Type Insigh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7.xml><?xml version="1.0" encoding="utf-8"?>
<p:tagLst xmlns:p="http://schemas.openxmlformats.org/presentationml/2006/main">
  <p:tag name="KSO_WM_SLIDE_TYPE" val="text"/>
  <p:tag name="KSO_WM_BEAUTIFY_FLAG" val="#wm#"/>
</p:tagLst>
</file>

<file path=ppt/tags/tag98.xml><?xml version="1.0" encoding="utf-8"?>
<p:tagLst xmlns:p="http://schemas.openxmlformats.org/presentationml/2006/main">
  <p:tag name="KSO_WM_UNIT_TEXT" val="Response Time Analys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01.xml><?xml version="1.0" encoding="utf-8"?>
<p:tagLst xmlns:p="http://schemas.openxmlformats.org/presentationml/2006/main">
  <p:tag name="KSO_WM_SLIDE_TYPE" val="text"/>
  <p:tag name="KSO_WM_BEAUTIFY_FLAG" val="#wm#"/>
</p:tagLst>
</file>

<file path=ppt/tags/tag102.xml><?xml version="1.0" encoding="utf-8"?>
<p:tagLst xmlns:p="http://schemas.openxmlformats.org/presentationml/2006/main">
  <p:tag name="KSO_WM_UNIT_TEXT" val="Key Insigh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05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2065</Words>
  <Application>WPS Presentation</Application>
  <PresentationFormat>On-screen Show (4:3)</PresentationFormat>
  <Paragraphs>80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 Light</vt:lpstr>
      <vt:lpstr>Manrope ExtraBold</vt:lpstr>
      <vt:lpstr>Lato</vt:lpstr>
      <vt:lpstr>Segoe Print</vt:lpstr>
      <vt:lpstr>Office Theme</vt:lpstr>
      <vt:lpstr>1_Office Theme</vt:lpstr>
      <vt:lpstr>Performance Analysis &amp; Insights</vt:lpstr>
      <vt:lpstr>Dashboard Overview</vt:lpstr>
      <vt:lpstr>Key Metrics</vt:lpstr>
      <vt:lpstr>SLA Performance</vt:lpstr>
      <vt:lpstr>Tickets by System</vt:lpstr>
      <vt:lpstr>Channel Performance</vt:lpstr>
      <vt:lpstr>Ticket Type Insights</vt:lpstr>
      <vt:lpstr>Response Time Analysis</vt:lpstr>
      <vt:lpstr>Key Insights</vt:lpstr>
      <vt:lpstr>Recommendations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Jashvanth Kanthimahanthi</cp:lastModifiedBy>
  <cp:revision>2</cp:revision>
  <dcterms:created xsi:type="dcterms:W3CDTF">2013-01-27T09:14:00Z</dcterms:created>
  <dcterms:modified xsi:type="dcterms:W3CDTF">2026-03-27T08:57:30Z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D751891872F34DC3A0E4AEEBDA3C0719_12</vt:lpwstr>
  </property>
</Properties>
</file>